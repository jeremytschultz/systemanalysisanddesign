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media/image4.jpg" ContentType="image/png"/>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8" r:id="rId2"/>
    <p:sldId id="260" r:id="rId3"/>
    <p:sldId id="261" r:id="rId4"/>
    <p:sldId id="267" r:id="rId5"/>
    <p:sldId id="263" r:id="rId6"/>
    <p:sldId id="265" r:id="rId7"/>
  </p:sldIdLst>
  <p:sldSz cx="12192000" cy="6858000"/>
  <p:notesSz cx="6858000" cy="9144000"/>
  <p:custDataLst>
    <p:tags r:id="rId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66" autoAdjust="0"/>
    <p:restoredTop sz="65796" autoAdjust="0"/>
  </p:normalViewPr>
  <p:slideViewPr>
    <p:cSldViewPr snapToGrid="0">
      <p:cViewPr varScale="1">
        <p:scale>
          <a:sx n="72" d="100"/>
          <a:sy n="72" d="100"/>
        </p:scale>
        <p:origin x="195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C20BB3-3CCB-4FE5-991B-82F6BCB48AF3}" type="datetimeFigureOut">
              <a:rPr lang="en-US" smtClean="0"/>
              <a:t>8/16/2026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746DE6-3336-457D-A091-FA20AC1C536E}" type="slidenum">
              <a:rPr lang="en-US" smtClean="0"/>
              <a:t>‹#›</a:t>
            </a:fld>
            <a:endParaRPr lang="en-US"/>
          </a:p>
        </p:txBody>
      </p:sp>
    </p:spTree>
    <p:extLst>
      <p:ext uri="{BB962C8B-B14F-4D97-AF65-F5344CB8AC3E}">
        <p14:creationId xmlns:p14="http://schemas.microsoft.com/office/powerpoint/2010/main" val="8562944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a:t>
            </a:r>
            <a:r>
              <a:rPr lang="en-US" baseline="0" dirty="0"/>
              <a:t> speaker notes required for this slide.]</a:t>
            </a:r>
            <a:endParaRPr lang="en-US" dirty="0"/>
          </a:p>
        </p:txBody>
      </p:sp>
      <p:sp>
        <p:nvSpPr>
          <p:cNvPr id="4" name="Slide Number Placeholder 3"/>
          <p:cNvSpPr>
            <a:spLocks noGrp="1"/>
          </p:cNvSpPr>
          <p:nvPr>
            <p:ph type="sldNum" sz="quarter" idx="10"/>
          </p:nvPr>
        </p:nvSpPr>
        <p:spPr/>
        <p:txBody>
          <a:bodyPr/>
          <a:lstStyle/>
          <a:p>
            <a:fld id="{E0746DE6-3336-457D-A091-FA20AC1C536E}" type="slidenum">
              <a:rPr lang="en-US" smtClean="0"/>
              <a:t>1</a:t>
            </a:fld>
            <a:endParaRPr lang="en-US"/>
          </a:p>
        </p:txBody>
      </p:sp>
    </p:spTree>
    <p:extLst>
      <p:ext uri="{BB962C8B-B14F-4D97-AF65-F5344CB8AC3E}">
        <p14:creationId xmlns:p14="http://schemas.microsoft.com/office/powerpoint/2010/main" val="42162425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effectLst/>
                <a:latin typeface="Times New Roman" panose="02020603050405020304" pitchFamily="18" charset="0"/>
                <a:cs typeface="Times New Roman" panose="02020603050405020304" pitchFamily="18" charset="0"/>
              </a:rPr>
              <a:t>I picked two simple functional requirements basically the things the system </a:t>
            </a:r>
            <a:r>
              <a:rPr lang="en-US" b="0" i="1" dirty="0">
                <a:effectLst/>
                <a:latin typeface="Times New Roman" panose="02020603050405020304" pitchFamily="18" charset="0"/>
                <a:cs typeface="Times New Roman" panose="02020603050405020304" pitchFamily="18" charset="0"/>
              </a:rPr>
              <a:t>has to do</a:t>
            </a:r>
            <a:r>
              <a:rPr lang="en-US" b="0" dirty="0">
                <a:effectLst/>
                <a:latin typeface="Times New Roman" panose="02020603050405020304" pitchFamily="18" charset="0"/>
                <a:cs typeface="Times New Roman" panose="02020603050405020304" pitchFamily="18" charset="0"/>
              </a:rPr>
              <a:t>. Scheduling lessons is one of the main things </a:t>
            </a:r>
            <a:r>
              <a:rPr lang="en-US" b="0" dirty="0" err="1">
                <a:effectLst/>
                <a:latin typeface="Times New Roman" panose="02020603050405020304" pitchFamily="18" charset="0"/>
                <a:cs typeface="Times New Roman" panose="02020603050405020304" pitchFamily="18" charset="0"/>
              </a:rPr>
              <a:t>DriverPass</a:t>
            </a:r>
            <a:r>
              <a:rPr lang="en-US" b="0" dirty="0">
                <a:effectLst/>
                <a:latin typeface="Times New Roman" panose="02020603050405020304" pitchFamily="18" charset="0"/>
                <a:cs typeface="Times New Roman" panose="02020603050405020304" pitchFamily="18" charset="0"/>
              </a:rPr>
              <a:t> wanted, and tracking practice test scores is a big part of helping people prepare for their DMV test.</a:t>
            </a:r>
            <a:endParaRPr lang="en-US" b="0" dirty="0">
              <a:latin typeface="Times New Roman" panose="02020603050405020304" pitchFamily="18" charset="0"/>
              <a:cs typeface="Times New Roman" panose="02020603050405020304" pitchFamily="18" charset="0"/>
            </a:endParaRPr>
          </a:p>
          <a:p>
            <a:r>
              <a:rPr lang="en-US" b="0" dirty="0">
                <a:effectLst/>
                <a:latin typeface="Times New Roman" panose="02020603050405020304" pitchFamily="18" charset="0"/>
                <a:cs typeface="Times New Roman" panose="02020603050405020304" pitchFamily="18" charset="0"/>
              </a:rPr>
              <a:t>For the nonfunctional requirements, I chose speed and security. </a:t>
            </a:r>
            <a:r>
              <a:rPr lang="en-US" b="0" dirty="0" err="1">
                <a:effectLst/>
                <a:latin typeface="Times New Roman" panose="02020603050405020304" pitchFamily="18" charset="0"/>
                <a:cs typeface="Times New Roman" panose="02020603050405020304" pitchFamily="18" charset="0"/>
              </a:rPr>
              <a:t>DriverPass</a:t>
            </a:r>
            <a:r>
              <a:rPr lang="en-US" b="0" dirty="0">
                <a:effectLst/>
                <a:latin typeface="Times New Roman" panose="02020603050405020304" pitchFamily="18" charset="0"/>
                <a:cs typeface="Times New Roman" panose="02020603050405020304" pitchFamily="18" charset="0"/>
              </a:rPr>
              <a:t> needs the system to run smoothly so customers don’t get frustrated, and security is obviously important since people’s personal info and test results are stored in the system.</a:t>
            </a:r>
            <a:endParaRPr lang="en-US" b="0" dirty="0">
              <a:latin typeface="Times New Roman" panose="02020603050405020304" pitchFamily="18" charset="0"/>
              <a:cs typeface="Times New Roman" panose="02020603050405020304" pitchFamily="18" charset="0"/>
            </a:endParaRPr>
          </a:p>
          <a:p>
            <a:r>
              <a:rPr lang="en-US" b="0" dirty="0">
                <a:effectLst/>
                <a:latin typeface="Times New Roman" panose="02020603050405020304" pitchFamily="18" charset="0"/>
                <a:cs typeface="Times New Roman" panose="02020603050405020304" pitchFamily="18" charset="0"/>
              </a:rPr>
              <a:t>Overall, these requirements match exactly what </a:t>
            </a:r>
            <a:r>
              <a:rPr lang="en-US" b="0" dirty="0" err="1">
                <a:effectLst/>
                <a:latin typeface="Times New Roman" panose="02020603050405020304" pitchFamily="18" charset="0"/>
                <a:cs typeface="Times New Roman" panose="02020603050405020304" pitchFamily="18" charset="0"/>
              </a:rPr>
              <a:t>DriverPass</a:t>
            </a:r>
            <a:r>
              <a:rPr lang="en-US" b="0" dirty="0">
                <a:effectLst/>
                <a:latin typeface="Times New Roman" panose="02020603050405020304" pitchFamily="18" charset="0"/>
                <a:cs typeface="Times New Roman" panose="02020603050405020304" pitchFamily="18" charset="0"/>
              </a:rPr>
              <a:t> asked for: a fast, secure system that helps customers book lessons and improve their driving test scores.</a:t>
            </a:r>
            <a:endParaRPr lang="en-US" b="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E0746DE6-3336-457D-A091-FA20AC1C536E}" type="slidenum">
              <a:rPr lang="en-US" smtClean="0"/>
              <a:t>2</a:t>
            </a:fld>
            <a:endParaRPr lang="en-US"/>
          </a:p>
        </p:txBody>
      </p:sp>
    </p:spTree>
    <p:extLst>
      <p:ext uri="{BB962C8B-B14F-4D97-AF65-F5344CB8AC3E}">
        <p14:creationId xmlns:p14="http://schemas.microsoft.com/office/powerpoint/2010/main" val="3399264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effectLst/>
                <a:latin typeface="Times New Roman" panose="02020603050405020304" pitchFamily="18" charset="0"/>
                <a:cs typeface="Times New Roman" panose="02020603050405020304" pitchFamily="18" charset="0"/>
              </a:rPr>
              <a:t>I mapped out everyone who uses </a:t>
            </a:r>
            <a:r>
              <a:rPr lang="en-US" b="0" dirty="0" err="1">
                <a:effectLst/>
                <a:latin typeface="Times New Roman" panose="02020603050405020304" pitchFamily="18" charset="0"/>
                <a:cs typeface="Times New Roman" panose="02020603050405020304" pitchFamily="18" charset="0"/>
              </a:rPr>
              <a:t>DriverPass</a:t>
            </a:r>
            <a:r>
              <a:rPr lang="en-US" b="0" dirty="0">
                <a:effectLst/>
                <a:latin typeface="Times New Roman" panose="02020603050405020304" pitchFamily="18" charset="0"/>
                <a:cs typeface="Times New Roman" panose="02020603050405020304" pitchFamily="18" charset="0"/>
              </a:rPr>
              <a:t> and what they actually need the system to do.</a:t>
            </a:r>
            <a:endParaRPr lang="en-US" b="0" dirty="0">
              <a:latin typeface="Times New Roman" panose="02020603050405020304" pitchFamily="18" charset="0"/>
              <a:cs typeface="Times New Roman" panose="02020603050405020304" pitchFamily="18" charset="0"/>
            </a:endParaRPr>
          </a:p>
          <a:p>
            <a:pPr lvl="0"/>
            <a:r>
              <a:rPr lang="en-US" b="0" dirty="0">
                <a:effectLst/>
                <a:latin typeface="Times New Roman" panose="02020603050405020304" pitchFamily="18" charset="0"/>
                <a:cs typeface="Times New Roman" panose="02020603050405020304" pitchFamily="18" charset="0"/>
              </a:rPr>
              <a:t>-Customers are just trying to sign up, schedule lessons, take practice tests, and see how they’re doing.</a:t>
            </a:r>
            <a:endParaRPr lang="en-US" b="0" dirty="0">
              <a:latin typeface="Times New Roman" panose="02020603050405020304" pitchFamily="18" charset="0"/>
              <a:cs typeface="Times New Roman" panose="02020603050405020304" pitchFamily="18" charset="0"/>
            </a:endParaRPr>
          </a:p>
          <a:p>
            <a:pPr lvl="0"/>
            <a:r>
              <a:rPr lang="en-US" b="0" dirty="0">
                <a:effectLst/>
                <a:latin typeface="Times New Roman" panose="02020603050405020304" pitchFamily="18" charset="0"/>
                <a:cs typeface="Times New Roman" panose="02020603050405020304" pitchFamily="18" charset="0"/>
              </a:rPr>
              <a:t>-Staff need to manage appointments, enter lesson notes, and check customer info.</a:t>
            </a:r>
            <a:endParaRPr lang="en-US" b="0" dirty="0">
              <a:latin typeface="Times New Roman" panose="02020603050405020304" pitchFamily="18" charset="0"/>
              <a:cs typeface="Times New Roman" panose="02020603050405020304" pitchFamily="18" charset="0"/>
            </a:endParaRPr>
          </a:p>
          <a:p>
            <a:pPr lvl="0"/>
            <a:r>
              <a:rPr lang="en-US" b="0" dirty="0">
                <a:effectLst/>
                <a:latin typeface="Times New Roman" panose="02020603050405020304" pitchFamily="18" charset="0"/>
                <a:cs typeface="Times New Roman" panose="02020603050405020304" pitchFamily="18" charset="0"/>
              </a:rPr>
              <a:t>-The owner needs to turn packages on/off and look at reports.</a:t>
            </a:r>
            <a:endParaRPr lang="en-US" b="0" dirty="0">
              <a:latin typeface="Times New Roman" panose="02020603050405020304" pitchFamily="18" charset="0"/>
              <a:cs typeface="Times New Roman" panose="02020603050405020304" pitchFamily="18" charset="0"/>
            </a:endParaRPr>
          </a:p>
          <a:p>
            <a:pPr lvl="0"/>
            <a:r>
              <a:rPr lang="en-US" b="0" dirty="0">
                <a:effectLst/>
                <a:latin typeface="Times New Roman" panose="02020603050405020304" pitchFamily="18" charset="0"/>
                <a:cs typeface="Times New Roman" panose="02020603050405020304" pitchFamily="18" charset="0"/>
              </a:rPr>
              <a:t>-The DMV sends updated rules and test questions.</a:t>
            </a:r>
            <a:endParaRPr lang="en-US" b="0" dirty="0">
              <a:latin typeface="Times New Roman" panose="02020603050405020304" pitchFamily="18" charset="0"/>
              <a:cs typeface="Times New Roman" panose="02020603050405020304" pitchFamily="18" charset="0"/>
            </a:endParaRPr>
          </a:p>
          <a:p>
            <a:r>
              <a:rPr lang="en-US" b="0" dirty="0">
                <a:effectLst/>
                <a:latin typeface="Times New Roman" panose="02020603050405020304" pitchFamily="18" charset="0"/>
                <a:cs typeface="Times New Roman" panose="02020603050405020304" pitchFamily="18" charset="0"/>
              </a:rPr>
              <a:t>I made sure the diagram covers all the stuff </a:t>
            </a:r>
            <a:r>
              <a:rPr lang="en-US" b="0" dirty="0" err="1">
                <a:effectLst/>
                <a:latin typeface="Times New Roman" panose="02020603050405020304" pitchFamily="18" charset="0"/>
                <a:cs typeface="Times New Roman" panose="02020603050405020304" pitchFamily="18" charset="0"/>
              </a:rPr>
              <a:t>DriverPass</a:t>
            </a:r>
            <a:r>
              <a:rPr lang="en-US" b="0" dirty="0">
                <a:effectLst/>
                <a:latin typeface="Times New Roman" panose="02020603050405020304" pitchFamily="18" charset="0"/>
                <a:cs typeface="Times New Roman" panose="02020603050405020304" pitchFamily="18" charset="0"/>
              </a:rPr>
              <a:t> said they wanted like online scheduling, practice tests, progress tracking, staff tools, and automatic DMV updates.</a:t>
            </a:r>
            <a:endParaRPr lang="en-US" b="0" dirty="0">
              <a:latin typeface="Times New Roman" panose="02020603050405020304" pitchFamily="18" charset="0"/>
              <a:cs typeface="Times New Roman" panose="02020603050405020304" pitchFamily="18" charset="0"/>
            </a:endParaRPr>
          </a:p>
          <a:p>
            <a:endParaRPr lang="en-US" dirty="0"/>
          </a:p>
        </p:txBody>
      </p:sp>
      <p:sp>
        <p:nvSpPr>
          <p:cNvPr id="4" name="Slide Number Placeholder 3"/>
          <p:cNvSpPr>
            <a:spLocks noGrp="1"/>
          </p:cNvSpPr>
          <p:nvPr>
            <p:ph type="sldNum" sz="quarter" idx="10"/>
          </p:nvPr>
        </p:nvSpPr>
        <p:spPr/>
        <p:txBody>
          <a:bodyPr/>
          <a:lstStyle/>
          <a:p>
            <a:fld id="{E0746DE6-3336-457D-A091-FA20AC1C536E}" type="slidenum">
              <a:rPr lang="en-US" smtClean="0"/>
              <a:t>3</a:t>
            </a:fld>
            <a:endParaRPr lang="en-US"/>
          </a:p>
        </p:txBody>
      </p:sp>
    </p:spTree>
    <p:extLst>
      <p:ext uri="{BB962C8B-B14F-4D97-AF65-F5344CB8AC3E}">
        <p14:creationId xmlns:p14="http://schemas.microsoft.com/office/powerpoint/2010/main" val="22628351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effectLst/>
                <a:latin typeface="Times New Roman" panose="02020603050405020304" pitchFamily="18" charset="0"/>
                <a:cs typeface="Times New Roman" panose="02020603050405020304" pitchFamily="18" charset="0"/>
              </a:rPr>
              <a:t>I focused on the part where a customer schedules a driving lesson. It’s basically the whole flow from logging in, picking a package and time, and the system checking if that spot is open. If it is, it books it and sends a confirmation. If not, it tells them to pick another time.</a:t>
            </a:r>
            <a:endParaRPr lang="en-US" b="0" dirty="0">
              <a:latin typeface="Times New Roman" panose="02020603050405020304" pitchFamily="18" charset="0"/>
              <a:cs typeface="Times New Roman" panose="02020603050405020304" pitchFamily="18" charset="0"/>
            </a:endParaRPr>
          </a:p>
          <a:p>
            <a:r>
              <a:rPr lang="en-US" b="0" dirty="0">
                <a:effectLst/>
                <a:latin typeface="Times New Roman" panose="02020603050405020304" pitchFamily="18" charset="0"/>
                <a:cs typeface="Times New Roman" panose="02020603050405020304" pitchFamily="18" charset="0"/>
              </a:rPr>
              <a:t>I built it this way because </a:t>
            </a:r>
            <a:r>
              <a:rPr lang="en-US" b="0" dirty="0" err="1">
                <a:effectLst/>
                <a:latin typeface="Times New Roman" panose="02020603050405020304" pitchFamily="18" charset="0"/>
                <a:cs typeface="Times New Roman" panose="02020603050405020304" pitchFamily="18" charset="0"/>
              </a:rPr>
              <a:t>DriverPass</a:t>
            </a:r>
            <a:r>
              <a:rPr lang="en-US" b="0" dirty="0">
                <a:effectLst/>
                <a:latin typeface="Times New Roman" panose="02020603050405020304" pitchFamily="18" charset="0"/>
                <a:cs typeface="Times New Roman" panose="02020603050405020304" pitchFamily="18" charset="0"/>
              </a:rPr>
              <a:t> really needs a smooth, easy scheduling process. The diagram shows exactly how the system handles that by checking availability, keeping things organized, and making sure customers get clear feedback.</a:t>
            </a:r>
            <a:endParaRPr lang="en-US" b="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E0746DE6-3336-457D-A091-FA20AC1C536E}" type="slidenum">
              <a:rPr lang="en-US" smtClean="0"/>
              <a:t>4</a:t>
            </a:fld>
            <a:endParaRPr lang="en-US"/>
          </a:p>
        </p:txBody>
      </p:sp>
    </p:spTree>
    <p:extLst>
      <p:ext uri="{BB962C8B-B14F-4D97-AF65-F5344CB8AC3E}">
        <p14:creationId xmlns:p14="http://schemas.microsoft.com/office/powerpoint/2010/main" val="8961842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effectLst/>
                <a:latin typeface="Times New Roman" panose="02020603050405020304" pitchFamily="18" charset="0"/>
                <a:cs typeface="Times New Roman" panose="02020603050405020304" pitchFamily="18" charset="0"/>
              </a:rPr>
              <a:t>I made sure security wasn’t an afterthought. I kept things simple but solid. First, people have to log in with their email and password, and the system locks the account if someone keeps trying the wrong password. That helps stop anyone from messing with someone else’s account.</a:t>
            </a:r>
            <a:endParaRPr lang="en-US" b="0" dirty="0">
              <a:latin typeface="Times New Roman" panose="02020603050405020304" pitchFamily="18" charset="0"/>
              <a:cs typeface="Times New Roman" panose="02020603050405020304" pitchFamily="18" charset="0"/>
            </a:endParaRPr>
          </a:p>
          <a:p>
            <a:r>
              <a:rPr lang="en-US" b="0" dirty="0">
                <a:effectLst/>
                <a:latin typeface="Times New Roman" panose="02020603050405020304" pitchFamily="18" charset="0"/>
                <a:cs typeface="Times New Roman" panose="02020603050405020304" pitchFamily="18" charset="0"/>
              </a:rPr>
              <a:t>I also made sure all the important info like customer details, lesson notes, and test scores stays encrypted so nobody can just grab it. And staff only see what they’re supposed to see based on their job. Overall, the design keeps customer data safe while still being easy to use, which is exactly what </a:t>
            </a:r>
            <a:r>
              <a:rPr lang="en-US" b="0" dirty="0" err="1">
                <a:effectLst/>
                <a:latin typeface="Times New Roman" panose="02020603050405020304" pitchFamily="18" charset="0"/>
                <a:cs typeface="Times New Roman" panose="02020603050405020304" pitchFamily="18" charset="0"/>
              </a:rPr>
              <a:t>DriverPass</a:t>
            </a:r>
            <a:r>
              <a:rPr lang="en-US" b="0" dirty="0">
                <a:effectLst/>
                <a:latin typeface="Times New Roman" panose="02020603050405020304" pitchFamily="18" charset="0"/>
                <a:cs typeface="Times New Roman" panose="02020603050405020304" pitchFamily="18" charset="0"/>
              </a:rPr>
              <a:t> needs.</a:t>
            </a:r>
            <a:endParaRPr lang="en-US" b="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E0746DE6-3336-457D-A091-FA20AC1C536E}" type="slidenum">
              <a:rPr lang="en-US" smtClean="0"/>
              <a:t>5</a:t>
            </a:fld>
            <a:endParaRPr lang="en-US"/>
          </a:p>
        </p:txBody>
      </p:sp>
    </p:spTree>
    <p:extLst>
      <p:ext uri="{BB962C8B-B14F-4D97-AF65-F5344CB8AC3E}">
        <p14:creationId xmlns:p14="http://schemas.microsoft.com/office/powerpoint/2010/main" val="34916115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latin typeface="Times New Roman" panose="02020603050405020304" pitchFamily="18" charset="0"/>
                <a:cs typeface="Times New Roman" panose="02020603050405020304" pitchFamily="18" charset="0"/>
              </a:rPr>
              <a:t>The system relies on the DMV sending updated rules, so if they’re slow, </a:t>
            </a:r>
            <a:r>
              <a:rPr lang="en-US" b="0" dirty="0" err="1">
                <a:latin typeface="Times New Roman" panose="02020603050405020304" pitchFamily="18" charset="0"/>
                <a:cs typeface="Times New Roman" panose="02020603050405020304" pitchFamily="18" charset="0"/>
              </a:rPr>
              <a:t>DriverPass</a:t>
            </a:r>
            <a:r>
              <a:rPr lang="en-US" b="0" dirty="0">
                <a:latin typeface="Times New Roman" panose="02020603050405020304" pitchFamily="18" charset="0"/>
                <a:cs typeface="Times New Roman" panose="02020603050405020304" pitchFamily="18" charset="0"/>
              </a:rPr>
              <a:t> is stuck waiting. It also needs people to have decent internet, which isn’t always guaranteed. If a ton of users jump on at once, things could lag a bit. And since </a:t>
            </a:r>
            <a:r>
              <a:rPr lang="en-US" b="0" dirty="0" err="1">
                <a:latin typeface="Times New Roman" panose="02020603050405020304" pitchFamily="18" charset="0"/>
                <a:cs typeface="Times New Roman" panose="02020603050405020304" pitchFamily="18" charset="0"/>
              </a:rPr>
              <a:t>DriverPass</a:t>
            </a:r>
            <a:r>
              <a:rPr lang="en-US" b="0" dirty="0">
                <a:latin typeface="Times New Roman" panose="02020603050405020304" pitchFamily="18" charset="0"/>
                <a:cs typeface="Times New Roman" panose="02020603050405020304" pitchFamily="18" charset="0"/>
              </a:rPr>
              <a:t> is a smaller company, some of the “nice to have” features might not fit the budget right away.</a:t>
            </a:r>
          </a:p>
        </p:txBody>
      </p:sp>
      <p:sp>
        <p:nvSpPr>
          <p:cNvPr id="4" name="Slide Number Placeholder 3"/>
          <p:cNvSpPr>
            <a:spLocks noGrp="1"/>
          </p:cNvSpPr>
          <p:nvPr>
            <p:ph type="sldNum" sz="quarter" idx="10"/>
          </p:nvPr>
        </p:nvSpPr>
        <p:spPr/>
        <p:txBody>
          <a:bodyPr/>
          <a:lstStyle/>
          <a:p>
            <a:fld id="{E0746DE6-3336-457D-A091-FA20AC1C536E}" type="slidenum">
              <a:rPr lang="en-US" smtClean="0"/>
              <a:t>6</a:t>
            </a:fld>
            <a:endParaRPr lang="en-US"/>
          </a:p>
        </p:txBody>
      </p:sp>
    </p:spTree>
    <p:extLst>
      <p:ext uri="{BB962C8B-B14F-4D97-AF65-F5344CB8AC3E}">
        <p14:creationId xmlns:p14="http://schemas.microsoft.com/office/powerpoint/2010/main" val="9706606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0391AB-F383-4237-A071-AD1C6E9246D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F6636DA-4FDE-4B32-8CCE-37EFA3E7579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0F87932-8FF0-4DF1-A776-9A3CE37618A7}"/>
              </a:ext>
            </a:extLst>
          </p:cNvPr>
          <p:cNvSpPr>
            <a:spLocks noGrp="1"/>
          </p:cNvSpPr>
          <p:nvPr>
            <p:ph type="dt" sz="half" idx="10"/>
          </p:nvPr>
        </p:nvSpPr>
        <p:spPr/>
        <p:txBody>
          <a:bodyPr/>
          <a:lstStyle/>
          <a:p>
            <a:fld id="{5D6495F3-B757-4FAF-98AA-EDA7D1485485}" type="datetimeFigureOut">
              <a:rPr lang="en-US" smtClean="0"/>
              <a:t>8/16/2026</a:t>
            </a:fld>
            <a:endParaRPr lang="en-US"/>
          </a:p>
        </p:txBody>
      </p:sp>
      <p:sp>
        <p:nvSpPr>
          <p:cNvPr id="5" name="Footer Placeholder 4">
            <a:extLst>
              <a:ext uri="{FF2B5EF4-FFF2-40B4-BE49-F238E27FC236}">
                <a16:creationId xmlns:a16="http://schemas.microsoft.com/office/drawing/2014/main" id="{5F38FAB8-C9F1-4DBB-B355-D8DEE37065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490E3-D8E8-4766-9104-14009BF5636F}"/>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4569019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BC967-18DB-4664-9B4D-06177FB946B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ADF7174-64B4-4D8F-BF44-3DD1F66CAD0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5CD83D3-86C4-482F-A2DC-B4C55DBF3F7A}"/>
              </a:ext>
            </a:extLst>
          </p:cNvPr>
          <p:cNvSpPr>
            <a:spLocks noGrp="1"/>
          </p:cNvSpPr>
          <p:nvPr>
            <p:ph type="dt" sz="half" idx="10"/>
          </p:nvPr>
        </p:nvSpPr>
        <p:spPr/>
        <p:txBody>
          <a:bodyPr/>
          <a:lstStyle/>
          <a:p>
            <a:fld id="{5D6495F3-B757-4FAF-98AA-EDA7D1485485}" type="datetimeFigureOut">
              <a:rPr lang="en-US" smtClean="0"/>
              <a:t>8/16/2026</a:t>
            </a:fld>
            <a:endParaRPr lang="en-US"/>
          </a:p>
        </p:txBody>
      </p:sp>
      <p:sp>
        <p:nvSpPr>
          <p:cNvPr id="5" name="Footer Placeholder 4">
            <a:extLst>
              <a:ext uri="{FF2B5EF4-FFF2-40B4-BE49-F238E27FC236}">
                <a16:creationId xmlns:a16="http://schemas.microsoft.com/office/drawing/2014/main" id="{DCF05BE2-6C23-4CB4-A63E-457E635BF2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097965-24FE-4C07-BE16-69AE439950EF}"/>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2757682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3394D-04EF-440C-B08B-114464B315C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BEBE3F6-F021-4D6B-8B0D-EF74D7461F9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196233C-6806-4593-91C0-CF4ECD84A601}"/>
              </a:ext>
            </a:extLst>
          </p:cNvPr>
          <p:cNvSpPr>
            <a:spLocks noGrp="1"/>
          </p:cNvSpPr>
          <p:nvPr>
            <p:ph type="dt" sz="half" idx="10"/>
          </p:nvPr>
        </p:nvSpPr>
        <p:spPr/>
        <p:txBody>
          <a:bodyPr/>
          <a:lstStyle/>
          <a:p>
            <a:fld id="{5D6495F3-B757-4FAF-98AA-EDA7D1485485}" type="datetimeFigureOut">
              <a:rPr lang="en-US" smtClean="0"/>
              <a:t>8/16/2026</a:t>
            </a:fld>
            <a:endParaRPr lang="en-US"/>
          </a:p>
        </p:txBody>
      </p:sp>
      <p:sp>
        <p:nvSpPr>
          <p:cNvPr id="5" name="Footer Placeholder 4">
            <a:extLst>
              <a:ext uri="{FF2B5EF4-FFF2-40B4-BE49-F238E27FC236}">
                <a16:creationId xmlns:a16="http://schemas.microsoft.com/office/drawing/2014/main" id="{963A761E-2D3A-4397-A82C-2F3B981DE0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297E71-B59F-4260-B01B-2B7CEB0896B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6393263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4DFCB-DD40-4637-9CAB-2BAF24231C7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394065F-4B44-4622-98EE-166F936489F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7AF1249-B890-4466-9E24-84A24907008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50FA9B4-D282-452F-B78A-FF5873ACF45A}"/>
              </a:ext>
            </a:extLst>
          </p:cNvPr>
          <p:cNvSpPr>
            <a:spLocks noGrp="1"/>
          </p:cNvSpPr>
          <p:nvPr>
            <p:ph type="dt" sz="half" idx="10"/>
          </p:nvPr>
        </p:nvSpPr>
        <p:spPr/>
        <p:txBody>
          <a:bodyPr/>
          <a:lstStyle/>
          <a:p>
            <a:fld id="{5D6495F3-B757-4FAF-98AA-EDA7D1485485}" type="datetimeFigureOut">
              <a:rPr lang="en-US" smtClean="0"/>
              <a:t>8/16/2026</a:t>
            </a:fld>
            <a:endParaRPr lang="en-US"/>
          </a:p>
        </p:txBody>
      </p:sp>
      <p:sp>
        <p:nvSpPr>
          <p:cNvPr id="6" name="Footer Placeholder 5">
            <a:extLst>
              <a:ext uri="{FF2B5EF4-FFF2-40B4-BE49-F238E27FC236}">
                <a16:creationId xmlns:a16="http://schemas.microsoft.com/office/drawing/2014/main" id="{6E9B0F13-A139-4B66-9544-16480800F68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8791D0-EC30-4D8C-8764-475D8DB34F19}"/>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0815023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3AA7D-15D2-4D5F-B1C4-501073416DE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5E80A0E-25B9-4E8E-8B0D-201E1C56409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189B111-0CA0-47CD-9F0B-DBCBA3AE3C2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EF0E02D-3176-4B85-ACB6-721F2682742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7D9317-BBE1-4F36-82FE-E348F6F18A9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837DDCB-69F8-49FA-A111-C8AB271389E7}"/>
              </a:ext>
            </a:extLst>
          </p:cNvPr>
          <p:cNvSpPr>
            <a:spLocks noGrp="1"/>
          </p:cNvSpPr>
          <p:nvPr>
            <p:ph type="dt" sz="half" idx="10"/>
          </p:nvPr>
        </p:nvSpPr>
        <p:spPr/>
        <p:txBody>
          <a:bodyPr/>
          <a:lstStyle/>
          <a:p>
            <a:fld id="{5D6495F3-B757-4FAF-98AA-EDA7D1485485}" type="datetimeFigureOut">
              <a:rPr lang="en-US" smtClean="0"/>
              <a:t>8/16/2026</a:t>
            </a:fld>
            <a:endParaRPr lang="en-US"/>
          </a:p>
        </p:txBody>
      </p:sp>
      <p:sp>
        <p:nvSpPr>
          <p:cNvPr id="8" name="Footer Placeholder 7">
            <a:extLst>
              <a:ext uri="{FF2B5EF4-FFF2-40B4-BE49-F238E27FC236}">
                <a16:creationId xmlns:a16="http://schemas.microsoft.com/office/drawing/2014/main" id="{4A18B0CD-1F68-412E-9232-F267114CA75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29B21FC-12CC-472D-BC38-EF413158CC5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8941432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0F51AB-8384-4E67-914C-B39484AD233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0909660-3861-4545-BF68-9ED039B5D0F0}"/>
              </a:ext>
            </a:extLst>
          </p:cNvPr>
          <p:cNvSpPr>
            <a:spLocks noGrp="1"/>
          </p:cNvSpPr>
          <p:nvPr>
            <p:ph type="dt" sz="half" idx="10"/>
          </p:nvPr>
        </p:nvSpPr>
        <p:spPr/>
        <p:txBody>
          <a:bodyPr/>
          <a:lstStyle/>
          <a:p>
            <a:fld id="{5D6495F3-B757-4FAF-98AA-EDA7D1485485}" type="datetimeFigureOut">
              <a:rPr lang="en-US" smtClean="0"/>
              <a:t>8/16/2026</a:t>
            </a:fld>
            <a:endParaRPr lang="en-US"/>
          </a:p>
        </p:txBody>
      </p:sp>
      <p:sp>
        <p:nvSpPr>
          <p:cNvPr id="4" name="Footer Placeholder 3">
            <a:extLst>
              <a:ext uri="{FF2B5EF4-FFF2-40B4-BE49-F238E27FC236}">
                <a16:creationId xmlns:a16="http://schemas.microsoft.com/office/drawing/2014/main" id="{FDDD5392-AC3A-4EAF-ADE6-B6CF4B50ACA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5679880-BF48-4F4D-B8B3-4E99FC415FF9}"/>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3514890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7F98E25-CF37-4F73-9E22-210238167867}"/>
              </a:ext>
            </a:extLst>
          </p:cNvPr>
          <p:cNvSpPr>
            <a:spLocks noGrp="1"/>
          </p:cNvSpPr>
          <p:nvPr>
            <p:ph type="dt" sz="half" idx="10"/>
          </p:nvPr>
        </p:nvSpPr>
        <p:spPr/>
        <p:txBody>
          <a:bodyPr/>
          <a:lstStyle/>
          <a:p>
            <a:fld id="{5D6495F3-B757-4FAF-98AA-EDA7D1485485}" type="datetimeFigureOut">
              <a:rPr lang="en-US" smtClean="0"/>
              <a:t>8/16/2026</a:t>
            </a:fld>
            <a:endParaRPr lang="en-US"/>
          </a:p>
        </p:txBody>
      </p:sp>
      <p:sp>
        <p:nvSpPr>
          <p:cNvPr id="3" name="Footer Placeholder 2">
            <a:extLst>
              <a:ext uri="{FF2B5EF4-FFF2-40B4-BE49-F238E27FC236}">
                <a16:creationId xmlns:a16="http://schemas.microsoft.com/office/drawing/2014/main" id="{89D7A0E1-38AB-4FDA-8EC1-2D7617909C1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8A8E424-5A91-4557-9ADF-4A9422A0690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4978027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6BB935-0427-44CC-A384-333EAD8317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CB9DCF6-55CF-43EE-B135-BFC4B4D403C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337538E-A112-4E8F-A445-1A06B0C353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30D413-9505-4ED8-BFF1-5141BE9EE3C4}"/>
              </a:ext>
            </a:extLst>
          </p:cNvPr>
          <p:cNvSpPr>
            <a:spLocks noGrp="1"/>
          </p:cNvSpPr>
          <p:nvPr>
            <p:ph type="dt" sz="half" idx="10"/>
          </p:nvPr>
        </p:nvSpPr>
        <p:spPr/>
        <p:txBody>
          <a:bodyPr/>
          <a:lstStyle/>
          <a:p>
            <a:fld id="{5D6495F3-B757-4FAF-98AA-EDA7D1485485}" type="datetimeFigureOut">
              <a:rPr lang="en-US" smtClean="0"/>
              <a:t>8/16/2026</a:t>
            </a:fld>
            <a:endParaRPr lang="en-US"/>
          </a:p>
        </p:txBody>
      </p:sp>
      <p:sp>
        <p:nvSpPr>
          <p:cNvPr id="6" name="Footer Placeholder 5">
            <a:extLst>
              <a:ext uri="{FF2B5EF4-FFF2-40B4-BE49-F238E27FC236}">
                <a16:creationId xmlns:a16="http://schemas.microsoft.com/office/drawing/2014/main" id="{F60815B0-4528-4FA2-8472-8F19C0F1650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5C9FCEF-4406-4552-BFE4-6DA3761357F2}"/>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7540635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CE22C-69D4-49EC-8858-787B3C67B0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46A4341-3C0B-4025-AE17-8F0F8FABF5D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DEF5FF01-E0B6-419C-ABCC-70844E4EAC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501218-FFD7-4F25-B220-F5DE5F70693C}"/>
              </a:ext>
            </a:extLst>
          </p:cNvPr>
          <p:cNvSpPr>
            <a:spLocks noGrp="1"/>
          </p:cNvSpPr>
          <p:nvPr>
            <p:ph type="dt" sz="half" idx="10"/>
          </p:nvPr>
        </p:nvSpPr>
        <p:spPr/>
        <p:txBody>
          <a:bodyPr/>
          <a:lstStyle/>
          <a:p>
            <a:fld id="{5D6495F3-B757-4FAF-98AA-EDA7D1485485}" type="datetimeFigureOut">
              <a:rPr lang="en-US" smtClean="0"/>
              <a:t>8/16/2026</a:t>
            </a:fld>
            <a:endParaRPr lang="en-US"/>
          </a:p>
        </p:txBody>
      </p:sp>
      <p:sp>
        <p:nvSpPr>
          <p:cNvPr id="6" name="Footer Placeholder 5">
            <a:extLst>
              <a:ext uri="{FF2B5EF4-FFF2-40B4-BE49-F238E27FC236}">
                <a16:creationId xmlns:a16="http://schemas.microsoft.com/office/drawing/2014/main" id="{9687CBFB-34A6-49D8-A1D2-45DF38876EE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C2726A4-D33A-486A-B120-648AF3D8BA76}"/>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26447433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B8678-553E-4A5B-8CFE-5DB358BDF35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43AF303-1F73-4575-83E6-561589F1632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36EC56-7DCF-400D-A871-C26291EB10AD}"/>
              </a:ext>
            </a:extLst>
          </p:cNvPr>
          <p:cNvSpPr>
            <a:spLocks noGrp="1"/>
          </p:cNvSpPr>
          <p:nvPr>
            <p:ph type="dt" sz="half" idx="10"/>
          </p:nvPr>
        </p:nvSpPr>
        <p:spPr/>
        <p:txBody>
          <a:bodyPr/>
          <a:lstStyle/>
          <a:p>
            <a:fld id="{5D6495F3-B757-4FAF-98AA-EDA7D1485485}" type="datetimeFigureOut">
              <a:rPr lang="en-US" smtClean="0"/>
              <a:t>8/16/2026</a:t>
            </a:fld>
            <a:endParaRPr lang="en-US"/>
          </a:p>
        </p:txBody>
      </p:sp>
      <p:sp>
        <p:nvSpPr>
          <p:cNvPr id="5" name="Footer Placeholder 4">
            <a:extLst>
              <a:ext uri="{FF2B5EF4-FFF2-40B4-BE49-F238E27FC236}">
                <a16:creationId xmlns:a16="http://schemas.microsoft.com/office/drawing/2014/main" id="{17FFAC5B-7C77-4F8C-ADB0-8D208A2EB3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2F48AF-AB8F-4DD2-BC77-7E2F42AD3B87}"/>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1873178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20ED820-BFE6-41B5-8064-984037A999A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CA27FEA-5359-474A-B4F8-FF510DD7489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4DD33D-563C-4B8C-B8C1-625FF5C5B85D}"/>
              </a:ext>
            </a:extLst>
          </p:cNvPr>
          <p:cNvSpPr>
            <a:spLocks noGrp="1"/>
          </p:cNvSpPr>
          <p:nvPr>
            <p:ph type="dt" sz="half" idx="10"/>
          </p:nvPr>
        </p:nvSpPr>
        <p:spPr/>
        <p:txBody>
          <a:bodyPr/>
          <a:lstStyle/>
          <a:p>
            <a:fld id="{5D6495F3-B757-4FAF-98AA-EDA7D1485485}" type="datetimeFigureOut">
              <a:rPr lang="en-US" smtClean="0"/>
              <a:t>8/16/2026</a:t>
            </a:fld>
            <a:endParaRPr lang="en-US"/>
          </a:p>
        </p:txBody>
      </p:sp>
      <p:sp>
        <p:nvSpPr>
          <p:cNvPr id="5" name="Footer Placeholder 4">
            <a:extLst>
              <a:ext uri="{FF2B5EF4-FFF2-40B4-BE49-F238E27FC236}">
                <a16:creationId xmlns:a16="http://schemas.microsoft.com/office/drawing/2014/main" id="{40471877-89FD-46BE-832F-C5660A5567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6E675F-CC4D-48CF-90C8-53829EE08B8C}"/>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24546216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C07C8C3-4165-4353-ABF2-492454AF91E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89AA46A-3C66-4E4A-9907-225E50ABB7A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7F8214-A11A-4309-9D51-44F35987D1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6495F3-B757-4FAF-98AA-EDA7D1485485}" type="datetimeFigureOut">
              <a:rPr lang="en-US" smtClean="0"/>
              <a:t>8/16/2026</a:t>
            </a:fld>
            <a:endParaRPr lang="en-US"/>
          </a:p>
        </p:txBody>
      </p:sp>
      <p:sp>
        <p:nvSpPr>
          <p:cNvPr id="5" name="Footer Placeholder 4">
            <a:extLst>
              <a:ext uri="{FF2B5EF4-FFF2-40B4-BE49-F238E27FC236}">
                <a16:creationId xmlns:a16="http://schemas.microsoft.com/office/drawing/2014/main" id="{D6A334EB-8260-4F13-9553-5A8593D9DC6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0C1EF96-E028-4E68-864E-9B77CF9F25E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E1939C1-24D7-49E9-A58A-7960365209F5}" type="slidenum">
              <a:rPr lang="en-US" smtClean="0"/>
              <a:t>‹#›</a:t>
            </a:fld>
            <a:endParaRPr lang="en-US"/>
          </a:p>
        </p:txBody>
      </p:sp>
    </p:spTree>
    <p:extLst>
      <p:ext uri="{BB962C8B-B14F-4D97-AF65-F5344CB8AC3E}">
        <p14:creationId xmlns:p14="http://schemas.microsoft.com/office/powerpoint/2010/main" val="18259450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4.xml"/><Relationship Id="rId5" Type="http://schemas.openxmlformats.org/officeDocument/2006/relationships/image" Target="../media/image3.jp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5.xml"/><Relationship Id="rId5" Type="http://schemas.openxmlformats.org/officeDocument/2006/relationships/image" Target="../media/image4.jp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3962611-DFD5-4092-AAFD-559E3DFCE2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5488" y="0"/>
            <a:ext cx="10910292"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2270F1FA-0425-408F-9861-80BF5AFB276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3045368" y="2043663"/>
            <a:ext cx="6105194" cy="2031055"/>
          </a:xfrm>
        </p:spPr>
        <p:txBody>
          <a:bodyPr>
            <a:normAutofit/>
          </a:bodyPr>
          <a:lstStyle/>
          <a:p>
            <a:r>
              <a:rPr lang="en-US" dirty="0" err="1">
                <a:solidFill>
                  <a:srgbClr val="FFFFFF"/>
                </a:solidFill>
              </a:rPr>
              <a:t>DriverPass</a:t>
            </a:r>
            <a:br>
              <a:rPr lang="en-US" dirty="0">
                <a:solidFill>
                  <a:srgbClr val="FFFFFF"/>
                </a:solidFill>
              </a:rPr>
            </a:br>
            <a:r>
              <a:rPr lang="en-US" dirty="0">
                <a:solidFill>
                  <a:srgbClr val="FFFFFF"/>
                </a:solidFill>
              </a:rPr>
              <a:t>System Analysis</a:t>
            </a:r>
          </a:p>
        </p:txBody>
      </p:sp>
      <p:sp>
        <p:nvSpPr>
          <p:cNvPr id="3" name="Content Placeholder 2"/>
          <p:cNvSpPr>
            <a:spLocks noGrp="1"/>
          </p:cNvSpPr>
          <p:nvPr>
            <p:ph type="subTitle" idx="1"/>
          </p:nvPr>
        </p:nvSpPr>
        <p:spPr>
          <a:xfrm>
            <a:off x="3045368" y="4074718"/>
            <a:ext cx="6105194" cy="682079"/>
          </a:xfrm>
        </p:spPr>
        <p:txBody>
          <a:bodyPr>
            <a:normAutofit/>
          </a:bodyPr>
          <a:lstStyle/>
          <a:p>
            <a:r>
              <a:rPr lang="en-US" dirty="0">
                <a:solidFill>
                  <a:srgbClr val="FFFFFF"/>
                </a:solidFill>
              </a:rPr>
              <a:t>Jeremy Schultz</a:t>
            </a:r>
            <a:endParaRPr dirty="0">
              <a:solidFill>
                <a:srgbClr val="FFFFFF"/>
              </a:solidFill>
            </a:endParaRPr>
          </a:p>
        </p:txBody>
      </p:sp>
    </p:spTree>
    <p:custDataLst>
      <p:tags r:id="rId1"/>
    </p:custDataLst>
    <p:extLst>
      <p:ext uri="{BB962C8B-B14F-4D97-AF65-F5344CB8AC3E}">
        <p14:creationId xmlns:p14="http://schemas.microsoft.com/office/powerpoint/2010/main" val="409182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System Requirements</a:t>
            </a:r>
          </a:p>
        </p:txBody>
      </p:sp>
      <p:sp>
        <p:nvSpPr>
          <p:cNvPr id="3" name="Content Placeholder 2"/>
          <p:cNvSpPr>
            <a:spLocks noGrp="1"/>
          </p:cNvSpPr>
          <p:nvPr>
            <p:ph idx="1"/>
          </p:nvPr>
        </p:nvSpPr>
        <p:spPr>
          <a:xfrm>
            <a:off x="6090574" y="801866"/>
            <a:ext cx="5306084" cy="5230634"/>
          </a:xfrm>
        </p:spPr>
        <p:txBody>
          <a:bodyPr anchor="ctr">
            <a:normAutofit/>
          </a:bodyPr>
          <a:lstStyle/>
          <a:p>
            <a:pPr marL="0" indent="0">
              <a:buNone/>
            </a:pPr>
            <a:r>
              <a:rPr lang="en-US" sz="2400" b="1" dirty="0"/>
              <a:t>Functional Requirements</a:t>
            </a:r>
            <a:endParaRPr lang="en-US" sz="2400" dirty="0"/>
          </a:p>
          <a:p>
            <a:pPr lvl="0"/>
            <a:r>
              <a:rPr lang="en-US" sz="2400" dirty="0"/>
              <a:t>The system lets customers schedule driving lessons.</a:t>
            </a:r>
          </a:p>
          <a:p>
            <a:pPr lvl="0"/>
            <a:r>
              <a:rPr lang="en-US" sz="2400" dirty="0"/>
              <a:t>The system tracks practice test scores and progress.</a:t>
            </a:r>
          </a:p>
          <a:p>
            <a:pPr marL="0" indent="0">
              <a:buNone/>
            </a:pPr>
            <a:r>
              <a:rPr lang="en-US" sz="2400" b="1" dirty="0"/>
              <a:t>Nonfunctional Requirements</a:t>
            </a:r>
            <a:endParaRPr lang="en-US" sz="2400" dirty="0"/>
          </a:p>
          <a:p>
            <a:pPr lvl="0"/>
            <a:r>
              <a:rPr lang="en-US" sz="2400" dirty="0"/>
              <a:t>The system loads pages fast and runs smoothly.</a:t>
            </a:r>
          </a:p>
          <a:p>
            <a:pPr lvl="0"/>
            <a:r>
              <a:rPr lang="en-US" sz="2400" dirty="0"/>
              <a:t>The system keeps all data secure and encrypted.</a:t>
            </a:r>
          </a:p>
        </p:txBody>
      </p:sp>
    </p:spTree>
    <p:custDataLst>
      <p:tags r:id="rId1"/>
    </p:custDataLst>
    <p:extLst>
      <p:ext uri="{BB962C8B-B14F-4D97-AF65-F5344CB8AC3E}">
        <p14:creationId xmlns:p14="http://schemas.microsoft.com/office/powerpoint/2010/main" val="18658859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Use Case Diagram</a:t>
            </a:r>
          </a:p>
        </p:txBody>
      </p:sp>
      <p:pic>
        <p:nvPicPr>
          <p:cNvPr id="6" name="Content Placeholder 5">
            <a:extLst>
              <a:ext uri="{FF2B5EF4-FFF2-40B4-BE49-F238E27FC236}">
                <a16:creationId xmlns:a16="http://schemas.microsoft.com/office/drawing/2014/main" id="{0FC628E2-6217-EDB2-A40A-D9680F9EF56E}"/>
              </a:ext>
            </a:extLst>
          </p:cNvPr>
          <p:cNvPicPr>
            <a:picLocks noGrp="1" noChangeAspect="1"/>
          </p:cNvPicPr>
          <p:nvPr>
            <p:ph idx="1"/>
          </p:nvPr>
        </p:nvPicPr>
        <p:blipFill>
          <a:blip r:embed="rId5">
            <a:extLst>
              <a:ext uri="{28A0092B-C50C-407E-A947-70E740481C1C}">
                <a14:useLocalDpi xmlns:a14="http://schemas.microsoft.com/office/drawing/2010/main" val="0"/>
              </a:ext>
            </a:extLst>
          </a:blip>
          <a:stretch>
            <a:fillRect/>
          </a:stretch>
        </p:blipFill>
        <p:spPr>
          <a:xfrm>
            <a:off x="5870714" y="112266"/>
            <a:ext cx="5400420" cy="6317800"/>
          </a:xfrm>
          <a:prstGeom prst="rect">
            <a:avLst/>
          </a:prstGeom>
        </p:spPr>
      </p:pic>
    </p:spTree>
    <p:custDataLst>
      <p:tags r:id="rId1"/>
    </p:custDataLst>
    <p:extLst>
      <p:ext uri="{BB962C8B-B14F-4D97-AF65-F5344CB8AC3E}">
        <p14:creationId xmlns:p14="http://schemas.microsoft.com/office/powerpoint/2010/main" val="27764253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Activity</a:t>
            </a:r>
            <a:br>
              <a:rPr lang="en-US" dirty="0">
                <a:solidFill>
                  <a:schemeClr val="bg1"/>
                </a:solidFill>
              </a:rPr>
            </a:br>
            <a:r>
              <a:rPr lang="en-US" dirty="0">
                <a:solidFill>
                  <a:schemeClr val="bg1"/>
                </a:solidFill>
              </a:rPr>
              <a:t>Diagram</a:t>
            </a:r>
          </a:p>
        </p:txBody>
      </p:sp>
      <p:pic>
        <p:nvPicPr>
          <p:cNvPr id="5" name="Content Placeholder 4">
            <a:extLst>
              <a:ext uri="{FF2B5EF4-FFF2-40B4-BE49-F238E27FC236}">
                <a16:creationId xmlns:a16="http://schemas.microsoft.com/office/drawing/2014/main" id="{D7E04F72-BE6E-E6EA-99B0-79276FE49C93}"/>
              </a:ext>
            </a:extLst>
          </p:cNvPr>
          <p:cNvPicPr>
            <a:picLocks noGrp="1" noChangeAspect="1"/>
          </p:cNvPicPr>
          <p:nvPr>
            <p:ph idx="1"/>
          </p:nvPr>
        </p:nvPicPr>
        <p:blipFill>
          <a:blip r:embed="rId5">
            <a:extLst>
              <a:ext uri="{28A0092B-C50C-407E-A947-70E740481C1C}">
                <a14:useLocalDpi xmlns:a14="http://schemas.microsoft.com/office/drawing/2010/main" val="0"/>
              </a:ext>
            </a:extLst>
          </a:blip>
          <a:stretch>
            <a:fillRect/>
          </a:stretch>
        </p:blipFill>
        <p:spPr>
          <a:xfrm>
            <a:off x="6599583" y="145774"/>
            <a:ext cx="4192771" cy="6289157"/>
          </a:xfrm>
          <a:prstGeom prst="rect">
            <a:avLst/>
          </a:prstGeom>
        </p:spPr>
      </p:pic>
    </p:spTree>
    <p:custDataLst>
      <p:tags r:id="rId1"/>
    </p:custDataLst>
    <p:extLst>
      <p:ext uri="{BB962C8B-B14F-4D97-AF65-F5344CB8AC3E}">
        <p14:creationId xmlns:p14="http://schemas.microsoft.com/office/powerpoint/2010/main" val="35640556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Security</a:t>
            </a:r>
          </a:p>
        </p:txBody>
      </p:sp>
      <p:sp>
        <p:nvSpPr>
          <p:cNvPr id="3" name="Content Placeholder 2"/>
          <p:cNvSpPr>
            <a:spLocks noGrp="1"/>
          </p:cNvSpPr>
          <p:nvPr>
            <p:ph idx="1"/>
          </p:nvPr>
        </p:nvSpPr>
        <p:spPr>
          <a:xfrm>
            <a:off x="6090574" y="801866"/>
            <a:ext cx="5306084" cy="5230634"/>
          </a:xfrm>
        </p:spPr>
        <p:txBody>
          <a:bodyPr anchor="ctr">
            <a:normAutofit/>
          </a:bodyPr>
          <a:lstStyle/>
          <a:p>
            <a:pPr lvl="0"/>
            <a:r>
              <a:rPr lang="en-US" sz="2400" dirty="0"/>
              <a:t>Login requires email + password</a:t>
            </a:r>
          </a:p>
          <a:p>
            <a:pPr lvl="0"/>
            <a:r>
              <a:rPr lang="en-US" sz="2400" dirty="0"/>
              <a:t>Accounts lock after too many failed attempts</a:t>
            </a:r>
          </a:p>
          <a:p>
            <a:pPr lvl="0"/>
            <a:r>
              <a:rPr lang="en-US" sz="2400" dirty="0"/>
              <a:t>All data is encrypted</a:t>
            </a:r>
          </a:p>
          <a:p>
            <a:pPr lvl="0"/>
            <a:r>
              <a:rPr lang="en-US" sz="2400" dirty="0"/>
              <a:t>Staff access is limited based on their role</a:t>
            </a:r>
          </a:p>
        </p:txBody>
      </p:sp>
    </p:spTree>
    <p:custDataLst>
      <p:tags r:id="rId1"/>
    </p:custDataLst>
    <p:extLst>
      <p:ext uri="{BB962C8B-B14F-4D97-AF65-F5344CB8AC3E}">
        <p14:creationId xmlns:p14="http://schemas.microsoft.com/office/powerpoint/2010/main" val="3768431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System Limitations</a:t>
            </a:r>
          </a:p>
        </p:txBody>
      </p:sp>
      <p:sp>
        <p:nvSpPr>
          <p:cNvPr id="3" name="Content Placeholder 2"/>
          <p:cNvSpPr>
            <a:spLocks noGrp="1"/>
          </p:cNvSpPr>
          <p:nvPr>
            <p:ph type="body" idx="1"/>
          </p:nvPr>
        </p:nvSpPr>
        <p:spPr>
          <a:xfrm>
            <a:off x="6090574" y="801866"/>
            <a:ext cx="5306084" cy="5230634"/>
          </a:xfrm>
        </p:spPr>
        <p:txBody>
          <a:bodyPr anchor="ctr">
            <a:normAutofit/>
          </a:bodyPr>
          <a:lstStyle/>
          <a:p>
            <a:pPr lvl="0"/>
            <a:r>
              <a:rPr lang="en-US" sz="2400" dirty="0"/>
              <a:t>Depends on DMV updates being accurate and on time</a:t>
            </a:r>
          </a:p>
          <a:p>
            <a:pPr lvl="0"/>
            <a:r>
              <a:rPr lang="en-US" sz="2400" dirty="0"/>
              <a:t>Needs stable internet for customers and staff</a:t>
            </a:r>
          </a:p>
          <a:p>
            <a:pPr lvl="0"/>
            <a:r>
              <a:rPr lang="en-US" sz="2400" dirty="0"/>
              <a:t>High traffic could slow things down</a:t>
            </a:r>
          </a:p>
          <a:p>
            <a:pPr lvl="0"/>
            <a:r>
              <a:rPr lang="en-US" sz="2400" dirty="0"/>
              <a:t>Some advanced features may not fit the budget right away</a:t>
            </a:r>
          </a:p>
        </p:txBody>
      </p:sp>
    </p:spTree>
    <p:custDataLst>
      <p:tags r:id="rId1"/>
    </p:custDataLst>
    <p:extLst>
      <p:ext uri="{BB962C8B-B14F-4D97-AF65-F5344CB8AC3E}">
        <p14:creationId xmlns:p14="http://schemas.microsoft.com/office/powerpoint/2010/main" val="322514164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WebD281</Template>
  <TotalTime>1359</TotalTime>
  <Words>645</Words>
  <Application>Microsoft Office PowerPoint</Application>
  <PresentationFormat>Widescreen</PresentationFormat>
  <Paragraphs>42</Paragraphs>
  <Slides>6</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Calibri</vt:lpstr>
      <vt:lpstr>Calibri Light</vt:lpstr>
      <vt:lpstr>Times New Roman</vt:lpstr>
      <vt:lpstr>Office Theme</vt:lpstr>
      <vt:lpstr>DriverPass System Analysis</vt:lpstr>
      <vt:lpstr>System Requirements</vt:lpstr>
      <vt:lpstr>Use Case Diagram</vt:lpstr>
      <vt:lpstr>Activity Diagram</vt:lpstr>
      <vt:lpstr>Security</vt:lpstr>
      <vt:lpstr>System Limitations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Systems Analysis</dc:title>
  <dc:creator>Loay Alnaji</dc:creator>
  <cp:lastModifiedBy>Schultz, Jeremy</cp:lastModifiedBy>
  <cp:revision>27</cp:revision>
  <dcterms:created xsi:type="dcterms:W3CDTF">2019-10-14T02:36:52Z</dcterms:created>
  <dcterms:modified xsi:type="dcterms:W3CDTF">2026-08-16T12:57:36Z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17B2C008-CF5F-4D7E-BF2C-A283A0269B28</vt:lpwstr>
  </property>
  <property fmtid="{D5CDD505-2E9C-101B-9397-08002B2CF9AE}" pid="3" name="ArticulatePath">
    <vt:lpwstr>CS 255 Client Presentation Template</vt:lpwstr>
  </property>
</Properties>
</file>